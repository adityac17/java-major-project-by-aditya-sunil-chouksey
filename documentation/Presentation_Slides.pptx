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3cab205-ff43-3f86-b60b-912310fb10bc}">
          <p14:sldIdLst>
            <p14:sldId id="256"/>
            <p14:sldId id="257"/>
            <p14:sldId id="258"/>
          </p14:sldIdLst>
        </p14:section>
        <p14:section name="How it works" id="{1e8bcff3-406e-bf06-42ca-ae73af6ecc3d}">
          <p14:sldIdLst>
            <p14:sldId id="259"/>
            <p14:sldId id="260"/>
            <p14:sldId id="261"/>
          </p14:sldIdLst>
        </p14:section>
        <p14:section name="Results" id="{8b17f973-e3fe-5bd2-0508-16ae8b101aee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[0:00 - 0:20]  Good morning. I'm Aditya Sunil Chouksey. My case study is a Restaurant Table Reservation and Waitlist System, built in Java with a Swing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[0:20 - 1:00]  A restaurant host juggles three things: guests who booked, guests who just walk in, and tables that are free, held or occupied. Done on paper, tables get double-booked, a couple ends up at a six-seat table, and walk-ins get skipped. My system applies the seating rules automatically and tells the host exactly who should get a table the moment it frees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[1:00 - 1:40]  The brief gave six objectives, seven modules and fourteen Java concepts. Every one is implemented - each module is a tab or a service in the application, and I will show most of them live in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[1:40 - 2:30]  The code is in layers. The Swing GUI only collects input and shows results; every rule lives in one service class, RestaurantManager. Two background threads - a notifier and a monitor - call the same manager, and data is saved automatically to a file. Because the rules are separate from the screen, they are easy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[2:30 - 3:20]  I chose each collection for one question. The ArrayList keeps everything. The HashMap finds a booking by its ID instantly. The TreeMap keeps bookings sorted by time, so I can ask who is due in the next half hour. And the waitlist is a LinkedList, because guests join at the end and are served first-come-first-served - exactly what the brief suggests. Table status is an enum: available, reserved, occupied.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[3:20 - 4:00]  Three rules drive the system. Best fit gives a party the smallest table that fits. Every party blocks its table for 90 minutes, so two bookings can never overlap. And when guests leave, a background thread waits 2 seconds while the table is reset, then gives it to the booking due next or to the first waiting party that fits - and alerts the host. Let me show you. (Switch to the application for the live demo.)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[8:30 - 9:00]  I tested the finished system against sixteen cases covering every module and every validation rule - including the background notification and restoring data after a restart. All sixteen passed. Bad input never crashes the program; it gets a message that explains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[9:00 - 9:40]  To conclude: the system meets all six objectives, all seven modules and all fourteen Java concepts in the brief. With more time I would move the data to a database so several front desks can share it, page waiting guests by SMS, and allow tables to be joined for large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[9:40 - 10:00]  Thank you. I'm happy to take questions - and I can show anything in the application or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Restaurant Table Reservation &amp; Waitlist System  |  Case Study 70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548640" y="50292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ITM Skills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2240280" cy="7040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Restaurant Table Reservation &amp; Waitlist System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632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Case Study 70  ·  Java Programming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Aditya Sunil Chouksey  |  150096725070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B.Tech CSE (2025-29), Semester III</a:t>
            </a:r>
            <a:endParaRPr lang="en-US" sz="1600" dirty="0"/>
          </a:p>
        </p:txBody>
      </p:sp>
      <p:sp>
        <p:nvSpPr>
          <p:cNvPr id="6" name="status-Available"/>
          <p:cNvSpPr/>
          <p:nvPr/>
        </p:nvSpPr>
        <p:spPr>
          <a:xfrm>
            <a:off x="6903720" y="960120"/>
            <a:ext cx="777240" cy="7772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status-label-Available"/>
          <p:cNvSpPr txBox="1"/>
          <p:nvPr/>
        </p:nvSpPr>
        <p:spPr>
          <a:xfrm>
            <a:off x="6583680" y="1764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Available</a:t>
            </a:r>
            <a:endParaRPr lang="en-US" sz="1200" dirty="0"/>
          </a:p>
        </p:txBody>
      </p:sp>
      <p:sp>
        <p:nvSpPr>
          <p:cNvPr id="8" name="status-Reserved"/>
          <p:cNvSpPr/>
          <p:nvPr/>
        </p:nvSpPr>
        <p:spPr>
          <a:xfrm>
            <a:off x="7863840" y="2011680"/>
            <a:ext cx="777240" cy="7772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status-label-Reserved"/>
          <p:cNvSpPr txBox="1"/>
          <p:nvPr/>
        </p:nvSpPr>
        <p:spPr>
          <a:xfrm>
            <a:off x="7543800" y="2816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Reserved</a:t>
            </a:r>
            <a:endParaRPr lang="en-US" sz="1200" dirty="0"/>
          </a:p>
        </p:txBody>
      </p:sp>
      <p:sp>
        <p:nvSpPr>
          <p:cNvPr id="10" name="status-Occupied"/>
          <p:cNvSpPr/>
          <p:nvPr/>
        </p:nvSpPr>
        <p:spPr>
          <a:xfrm>
            <a:off x="6903720" y="3063240"/>
            <a:ext cx="777240" cy="7772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status-label-Occupied"/>
          <p:cNvSpPr txBox="1"/>
          <p:nvPr/>
        </p:nvSpPr>
        <p:spPr>
          <a:xfrm>
            <a:off x="6583680" y="3867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Occupied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problem-card-1"/>
          <p:cNvSpPr/>
          <p:nvPr/>
        </p:nvSpPr>
        <p:spPr>
          <a:xfrm>
            <a:off x="457200" y="118872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-1-circle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problem-1-icon" descr="problem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492301"/>
            <a:ext cx="261518" cy="261518"/>
          </a:xfrm>
          <a:prstGeom prst="rect">
            <a:avLst/>
          </a:prstGeom>
        </p:spPr>
      </p:pic>
      <p:sp>
        <p:nvSpPr>
          <p:cNvPr id="6" name="problem-text-1"/>
          <p:cNvSpPr txBox="1"/>
          <p:nvPr/>
        </p:nvSpPr>
        <p:spPr>
          <a:xfrm>
            <a:off x="1371600" y="1280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bookings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Two parties promised the same table</a:t>
            </a:r>
            <a:endParaRPr lang="en-US" sz="1700" dirty="0"/>
          </a:p>
        </p:txBody>
      </p:sp>
      <p:sp>
        <p:nvSpPr>
          <p:cNvPr id="7" name="problem-card-2"/>
          <p:cNvSpPr/>
          <p:nvPr/>
        </p:nvSpPr>
        <p:spPr>
          <a:xfrm>
            <a:off x="457200" y="2212848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blem-2-circle"/>
          <p:cNvSpPr/>
          <p:nvPr/>
        </p:nvSpPr>
        <p:spPr>
          <a:xfrm>
            <a:off x="658368" y="239572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problem-2-icon" descr="problem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2516429"/>
            <a:ext cx="261518" cy="261518"/>
          </a:xfrm>
          <a:prstGeom prst="rect">
            <a:avLst/>
          </a:prstGeom>
        </p:spPr>
      </p:pic>
      <p:sp>
        <p:nvSpPr>
          <p:cNvPr id="10" name="problem-text-2"/>
          <p:cNvSpPr txBox="1"/>
          <p:nvPr/>
        </p:nvSpPr>
        <p:spPr>
          <a:xfrm>
            <a:off x="1371600" y="23042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Wasted big tables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couple seated at a six-seater</a:t>
            </a:r>
            <a:endParaRPr lang="en-US" sz="1700" dirty="0"/>
          </a:p>
        </p:txBody>
      </p:sp>
      <p:sp>
        <p:nvSpPr>
          <p:cNvPr id="11" name="problem-card-3"/>
          <p:cNvSpPr/>
          <p:nvPr/>
        </p:nvSpPr>
        <p:spPr>
          <a:xfrm>
            <a:off x="457200" y="3236976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oblem-3-circle"/>
          <p:cNvSpPr/>
          <p:nvPr/>
        </p:nvSpPr>
        <p:spPr>
          <a:xfrm>
            <a:off x="658368" y="3419856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problem-3-icon" descr="problem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540557"/>
            <a:ext cx="261518" cy="261518"/>
          </a:xfrm>
          <a:prstGeom prst="rect">
            <a:avLst/>
          </a:prstGeom>
        </p:spPr>
      </p:pic>
      <p:sp>
        <p:nvSpPr>
          <p:cNvPr id="14" name="problem-text-3"/>
          <p:cNvSpPr txBox="1"/>
          <p:nvPr/>
        </p:nvSpPr>
        <p:spPr>
          <a:xfrm>
            <a:off x="1371600" y="332841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Walk-ins skipped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Guests forgotten or seated out of turn</a:t>
            </a:r>
            <a:endParaRPr lang="en-US" sz="1700" dirty="0"/>
          </a:p>
        </p:txBody>
      </p:sp>
      <p:sp>
        <p:nvSpPr>
          <p:cNvPr id="15" name="goal-panel"/>
          <p:cNvSpPr/>
          <p:nvPr/>
        </p:nvSpPr>
        <p:spPr>
          <a:xfrm>
            <a:off x="5623560" y="1188720"/>
            <a:ext cx="3063240" cy="2916936"/>
          </a:xfrm>
          <a:prstGeom prst="roundRect">
            <a:avLst>
              <a:gd name="adj" fmla="val 31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goal-icon" descr="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463040"/>
            <a:ext cx="457200" cy="457200"/>
          </a:xfrm>
          <a:prstGeom prst="rect">
            <a:avLst/>
          </a:prstGeom>
        </p:spPr>
      </p:pic>
      <p:sp>
        <p:nvSpPr>
          <p:cNvPr id="17" name="goal-label"/>
          <p:cNvSpPr txBox="1"/>
          <p:nvPr/>
        </p:nvSpPr>
        <p:spPr>
          <a:xfrm>
            <a:off x="58978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GOAL</a:t>
            </a:r>
            <a:endParaRPr lang="en-US" sz="1400" dirty="0"/>
          </a:p>
        </p:txBody>
      </p:sp>
      <p:sp>
        <p:nvSpPr>
          <p:cNvPr id="18" name="goal-text"/>
          <p:cNvSpPr txBox="1"/>
          <p:nvPr/>
        </p:nvSpPr>
        <p:spPr>
          <a:xfrm>
            <a:off x="5897880" y="239572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Seat by the rules - and tell the host who is next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 and modules</a:t>
            </a:r>
            <a:endParaRPr lang="en-US" sz="3200" dirty="0"/>
          </a:p>
        </p:txBody>
      </p:sp>
      <p:sp>
        <p:nvSpPr>
          <p:cNvPr id="3" name="stat-num-1"/>
          <p:cNvSpPr txBox="1"/>
          <p:nvPr/>
        </p:nvSpPr>
        <p:spPr>
          <a:xfrm>
            <a:off x="45720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4" name="stat-word-1"/>
          <p:cNvSpPr txBox="1"/>
          <p:nvPr/>
        </p:nvSpPr>
        <p:spPr>
          <a:xfrm>
            <a:off x="1691640" y="1143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5" name="stat-num-2"/>
          <p:cNvSpPr txBox="1"/>
          <p:nvPr/>
        </p:nvSpPr>
        <p:spPr>
          <a:xfrm>
            <a:off x="457200" y="216712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</a:t>
            </a:r>
            <a:endParaRPr lang="en-US" sz="4800" dirty="0"/>
          </a:p>
        </p:txBody>
      </p:sp>
      <p:sp>
        <p:nvSpPr>
          <p:cNvPr id="6" name="stat-word-2"/>
          <p:cNvSpPr txBox="1"/>
          <p:nvPr/>
        </p:nvSpPr>
        <p:spPr>
          <a:xfrm>
            <a:off x="1691640" y="21671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modules</a:t>
            </a:r>
            <a:endParaRPr lang="en-US" sz="1600" dirty="0"/>
          </a:p>
        </p:txBody>
      </p:sp>
      <p:sp>
        <p:nvSpPr>
          <p:cNvPr id="7" name="stat-num-3"/>
          <p:cNvSpPr txBox="1"/>
          <p:nvPr/>
        </p:nvSpPr>
        <p:spPr>
          <a:xfrm>
            <a:off x="457200" y="319125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8" name="stat-word-3"/>
          <p:cNvSpPr txBox="1"/>
          <p:nvPr/>
        </p:nvSpPr>
        <p:spPr>
          <a:xfrm>
            <a:off x="1691640" y="31912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Java concepts</a:t>
            </a:r>
            <a:endParaRPr lang="en-US" sz="1600" dirty="0"/>
          </a:p>
        </p:txBody>
      </p:sp>
      <p:sp>
        <p:nvSpPr>
          <p:cNvPr id="9" name="module-tile-1"/>
          <p:cNvSpPr/>
          <p:nvPr/>
        </p:nvSpPr>
        <p:spPr>
          <a:xfrm>
            <a:off x="3429000" y="1188720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ule-num-bg-1"/>
          <p:cNvSpPr/>
          <p:nvPr/>
        </p:nvSpPr>
        <p:spPr>
          <a:xfrm>
            <a:off x="3538728" y="1298448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module-num-1"/>
          <p:cNvSpPr txBox="1"/>
          <p:nvPr/>
        </p:nvSpPr>
        <p:spPr>
          <a:xfrm>
            <a:off x="353872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module-name-1"/>
          <p:cNvSpPr txBox="1"/>
          <p:nvPr/>
        </p:nvSpPr>
        <p:spPr>
          <a:xfrm>
            <a:off x="4032504" y="1188720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 Setup</a:t>
            </a:r>
            <a:endParaRPr lang="en-US" sz="1400" dirty="0"/>
          </a:p>
        </p:txBody>
      </p:sp>
      <p:sp>
        <p:nvSpPr>
          <p:cNvPr id="13" name="module-tile-2"/>
          <p:cNvSpPr/>
          <p:nvPr/>
        </p:nvSpPr>
        <p:spPr>
          <a:xfrm>
            <a:off x="3429000" y="1956816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ule-num-bg-2"/>
          <p:cNvSpPr/>
          <p:nvPr/>
        </p:nvSpPr>
        <p:spPr>
          <a:xfrm>
            <a:off x="3538728" y="20665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module-num-2"/>
          <p:cNvSpPr txBox="1"/>
          <p:nvPr/>
        </p:nvSpPr>
        <p:spPr>
          <a:xfrm>
            <a:off x="3538728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module-name-2"/>
          <p:cNvSpPr txBox="1"/>
          <p:nvPr/>
        </p:nvSpPr>
        <p:spPr>
          <a:xfrm>
            <a:off x="4032504" y="1956816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Reservation Booking</a:t>
            </a:r>
            <a:endParaRPr lang="en-US" sz="1400" dirty="0"/>
          </a:p>
        </p:txBody>
      </p:sp>
      <p:sp>
        <p:nvSpPr>
          <p:cNvPr id="17" name="module-tile-3"/>
          <p:cNvSpPr/>
          <p:nvPr/>
        </p:nvSpPr>
        <p:spPr>
          <a:xfrm>
            <a:off x="3429000" y="2724912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module-num-bg-3"/>
          <p:cNvSpPr/>
          <p:nvPr/>
        </p:nvSpPr>
        <p:spPr>
          <a:xfrm>
            <a:off x="3538728" y="283464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module-num-3"/>
          <p:cNvSpPr txBox="1"/>
          <p:nvPr/>
        </p:nvSpPr>
        <p:spPr>
          <a:xfrm>
            <a:off x="3538728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module-name-3"/>
          <p:cNvSpPr txBox="1"/>
          <p:nvPr/>
        </p:nvSpPr>
        <p:spPr>
          <a:xfrm>
            <a:off x="4032504" y="272491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Waitlist Management</a:t>
            </a:r>
            <a:endParaRPr lang="en-US" sz="1400" dirty="0"/>
          </a:p>
        </p:txBody>
      </p:sp>
      <p:sp>
        <p:nvSpPr>
          <p:cNvPr id="21" name="module-tile-4"/>
          <p:cNvSpPr/>
          <p:nvPr/>
        </p:nvSpPr>
        <p:spPr>
          <a:xfrm>
            <a:off x="3429000" y="3493008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module-num-bg-4"/>
          <p:cNvSpPr/>
          <p:nvPr/>
        </p:nvSpPr>
        <p:spPr>
          <a:xfrm>
            <a:off x="3538728" y="3602736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module-num-4"/>
          <p:cNvSpPr txBox="1"/>
          <p:nvPr/>
        </p:nvSpPr>
        <p:spPr>
          <a:xfrm>
            <a:off x="353872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module-name-4"/>
          <p:cNvSpPr txBox="1"/>
          <p:nvPr/>
        </p:nvSpPr>
        <p:spPr>
          <a:xfrm>
            <a:off x="4032504" y="34930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 Assignment</a:t>
            </a:r>
            <a:endParaRPr lang="en-US" sz="1400" dirty="0"/>
          </a:p>
        </p:txBody>
      </p:sp>
      <p:sp>
        <p:nvSpPr>
          <p:cNvPr id="25" name="module-tile-5"/>
          <p:cNvSpPr/>
          <p:nvPr/>
        </p:nvSpPr>
        <p:spPr>
          <a:xfrm>
            <a:off x="6126480" y="1188720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module-num-bg-5"/>
          <p:cNvSpPr/>
          <p:nvPr/>
        </p:nvSpPr>
        <p:spPr>
          <a:xfrm>
            <a:off x="6236208" y="1298448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module-num-5"/>
          <p:cNvSpPr txBox="1"/>
          <p:nvPr/>
        </p:nvSpPr>
        <p:spPr>
          <a:xfrm>
            <a:off x="623620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module-name-5"/>
          <p:cNvSpPr txBox="1"/>
          <p:nvPr/>
        </p:nvSpPr>
        <p:spPr>
          <a:xfrm>
            <a:off x="6729984" y="1188720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Availability Notification</a:t>
            </a:r>
            <a:endParaRPr lang="en-US" sz="1400" dirty="0"/>
          </a:p>
        </p:txBody>
      </p:sp>
      <p:sp>
        <p:nvSpPr>
          <p:cNvPr id="29" name="module-tile-6"/>
          <p:cNvSpPr/>
          <p:nvPr/>
        </p:nvSpPr>
        <p:spPr>
          <a:xfrm>
            <a:off x="6126480" y="1956816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module-num-bg-6"/>
          <p:cNvSpPr/>
          <p:nvPr/>
        </p:nvSpPr>
        <p:spPr>
          <a:xfrm>
            <a:off x="6236208" y="2066544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module-num-6"/>
          <p:cNvSpPr txBox="1"/>
          <p:nvPr/>
        </p:nvSpPr>
        <p:spPr>
          <a:xfrm>
            <a:off x="6236208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module-name-6"/>
          <p:cNvSpPr txBox="1"/>
          <p:nvPr/>
        </p:nvSpPr>
        <p:spPr>
          <a:xfrm>
            <a:off x="6729984" y="1956816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Reservation Search</a:t>
            </a:r>
            <a:endParaRPr lang="en-US" sz="1400" dirty="0"/>
          </a:p>
        </p:txBody>
      </p:sp>
      <p:sp>
        <p:nvSpPr>
          <p:cNvPr id="33" name="module-tile-7"/>
          <p:cNvSpPr/>
          <p:nvPr/>
        </p:nvSpPr>
        <p:spPr>
          <a:xfrm>
            <a:off x="6126480" y="2724912"/>
            <a:ext cx="2514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module-num-bg-7"/>
          <p:cNvSpPr/>
          <p:nvPr/>
        </p:nvSpPr>
        <p:spPr>
          <a:xfrm>
            <a:off x="6236208" y="28346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module-num-7"/>
          <p:cNvSpPr txBox="1"/>
          <p:nvPr/>
        </p:nvSpPr>
        <p:spPr>
          <a:xfrm>
            <a:off x="6236208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module-name-7"/>
          <p:cNvSpPr txBox="1"/>
          <p:nvPr/>
        </p:nvSpPr>
        <p:spPr>
          <a:xfrm>
            <a:off x="6729984" y="272491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Seating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</a:t>
            </a:r>
            <a:endParaRPr lang="en-US" sz="3200" dirty="0"/>
          </a:p>
        </p:txBody>
      </p:sp>
      <p:pic>
        <p:nvPicPr>
          <p:cNvPr id="3" name="architecture-diagram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5568"/>
            <a:ext cx="4724400" cy="3429000"/>
          </a:xfrm>
          <a:prstGeom prst="rect">
            <a:avLst/>
          </a:prstGeom>
        </p:spPr>
      </p:pic>
      <p:sp>
        <p:nvSpPr>
          <p:cNvPr id="4" name="arch-1-circle"/>
          <p:cNvSpPr/>
          <p:nvPr/>
        </p:nvSpPr>
        <p:spPr>
          <a:xfrm>
            <a:off x="5440680" y="1188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rch-1-icon" descr="arch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852" y="1280892"/>
            <a:ext cx="199705" cy="199705"/>
          </a:xfrm>
          <a:prstGeom prst="rect">
            <a:avLst/>
          </a:prstGeom>
        </p:spPr>
      </p:pic>
      <p:sp>
        <p:nvSpPr>
          <p:cNvPr id="6" name="arch-text-1"/>
          <p:cNvSpPr txBox="1"/>
          <p:nvPr/>
        </p:nvSpPr>
        <p:spPr>
          <a:xfrm>
            <a:off x="594360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GUI → Service → Model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Swing screens only collect input and show results</a:t>
            </a:r>
            <a:endParaRPr lang="en-US" sz="1500" dirty="0"/>
          </a:p>
        </p:txBody>
      </p:sp>
      <p:sp>
        <p:nvSpPr>
          <p:cNvPr id="7" name="arch-2-circle"/>
          <p:cNvSpPr/>
          <p:nvPr/>
        </p:nvSpPr>
        <p:spPr>
          <a:xfrm>
            <a:off x="544068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rch-2-icon" descr="arch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852" y="2149572"/>
            <a:ext cx="199705" cy="199705"/>
          </a:xfrm>
          <a:prstGeom prst="rect">
            <a:avLst/>
          </a:prstGeom>
        </p:spPr>
      </p:pic>
      <p:sp>
        <p:nvSpPr>
          <p:cNvPr id="9" name="arch-text-2"/>
          <p:cNvSpPr txBox="1"/>
          <p:nvPr/>
        </p:nvSpPr>
        <p:spPr>
          <a:xfrm>
            <a:off x="59436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decision-maker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RestaurantManager holds every rule</a:t>
            </a:r>
            <a:endParaRPr lang="en-US" sz="1500" dirty="0"/>
          </a:p>
        </p:txBody>
      </p:sp>
      <p:sp>
        <p:nvSpPr>
          <p:cNvPr id="10" name="arch-3-circle"/>
          <p:cNvSpPr/>
          <p:nvPr/>
        </p:nvSpPr>
        <p:spPr>
          <a:xfrm>
            <a:off x="544068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rch-3-icon" descr="arch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852" y="3018252"/>
            <a:ext cx="199705" cy="199705"/>
          </a:xfrm>
          <a:prstGeom prst="rect">
            <a:avLst/>
          </a:prstGeom>
        </p:spPr>
      </p:pic>
      <p:sp>
        <p:nvSpPr>
          <p:cNvPr id="12" name="arch-text-3"/>
          <p:cNvSpPr txBox="1"/>
          <p:nvPr/>
        </p:nvSpPr>
        <p:spPr>
          <a:xfrm>
            <a:off x="594360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Two background threads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Notifier (waits 2 s) and monitor (every 15 s)</a:t>
            </a:r>
            <a:endParaRPr lang="en-US" sz="1500" dirty="0"/>
          </a:p>
        </p:txBody>
      </p:sp>
      <p:sp>
        <p:nvSpPr>
          <p:cNvPr id="13" name="arch-4-circle"/>
          <p:cNvSpPr/>
          <p:nvPr/>
        </p:nvSpPr>
        <p:spPr>
          <a:xfrm>
            <a:off x="5440680" y="3794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rch-4-icon" descr="arch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852" y="3886932"/>
            <a:ext cx="199705" cy="199705"/>
          </a:xfrm>
          <a:prstGeom prst="rect">
            <a:avLst/>
          </a:prstGeom>
        </p:spPr>
      </p:pic>
      <p:sp>
        <p:nvSpPr>
          <p:cNvPr id="15" name="arch-text-4"/>
          <p:cNvSpPr txBox="1"/>
          <p:nvPr/>
        </p:nvSpPr>
        <p:spPr>
          <a:xfrm>
            <a:off x="59436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Saved automatically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data/restaurant.dat, restored on restart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structures</a:t>
            </a:r>
            <a:endParaRPr lang="en-US" sz="3200" dirty="0"/>
          </a:p>
        </p:txBody>
      </p:sp>
      <p:sp>
        <p:nvSpPr>
          <p:cNvPr id="3" name="ds-card-1"/>
          <p:cNvSpPr/>
          <p:nvPr/>
        </p:nvSpPr>
        <p:spPr>
          <a:xfrm>
            <a:off x="457200" y="1097280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s-text-1"/>
          <p:cNvSpPr txBox="1"/>
          <p:nvPr/>
        </p:nvSpPr>
        <p:spPr>
          <a:xfrm>
            <a:off x="685800" y="12070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ArrayList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tables and reservations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keeps everything</a:t>
            </a:r>
            <a:endParaRPr lang="en-US" sz="2000" dirty="0"/>
          </a:p>
        </p:txBody>
      </p:sp>
      <p:sp>
        <p:nvSpPr>
          <p:cNvPr id="5" name="ds-card-2"/>
          <p:cNvSpPr/>
          <p:nvPr/>
        </p:nvSpPr>
        <p:spPr>
          <a:xfrm>
            <a:off x="4663440" y="1097280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s-text-2"/>
          <p:cNvSpPr txBox="1"/>
          <p:nvPr/>
        </p:nvSpPr>
        <p:spPr>
          <a:xfrm>
            <a:off x="4892040" y="12070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HashMap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Reservation ID → reservation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O(1) lookup</a:t>
            </a:r>
            <a:endParaRPr lang="en-US" sz="2000" dirty="0"/>
          </a:p>
        </p:txBody>
      </p:sp>
      <p:sp>
        <p:nvSpPr>
          <p:cNvPr id="7" name="ds-card-3"/>
          <p:cNvSpPr/>
          <p:nvPr/>
        </p:nvSpPr>
        <p:spPr>
          <a:xfrm>
            <a:off x="457200" y="2468880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s-text-3"/>
          <p:cNvSpPr txBox="1"/>
          <p:nvPr/>
        </p:nvSpPr>
        <p:spPr>
          <a:xfrm>
            <a:off x="685800" y="25786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TreeMap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Bookings sorted by start time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"who is due in 30 min?"</a:t>
            </a:r>
            <a:endParaRPr lang="en-US" sz="2000" dirty="0"/>
          </a:p>
        </p:txBody>
      </p:sp>
      <p:sp>
        <p:nvSpPr>
          <p:cNvPr id="9" name="ds-card-4"/>
          <p:cNvSpPr/>
          <p:nvPr/>
        </p:nvSpPr>
        <p:spPr>
          <a:xfrm>
            <a:off x="4663440" y="2468880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s-text-4"/>
          <p:cNvSpPr txBox="1"/>
          <p:nvPr/>
        </p:nvSpPr>
        <p:spPr>
          <a:xfrm>
            <a:off x="4892040" y="25786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LinkedList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walk-in waitlist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first come, first served</a:t>
            </a:r>
            <a:endParaRPr lang="en-US" sz="2000" dirty="0"/>
          </a:p>
        </p:txBody>
      </p:sp>
      <p:sp>
        <p:nvSpPr>
          <p:cNvPr id="11" name="enum-label"/>
          <p:cNvSpPr txBox="1"/>
          <p:nvPr/>
        </p:nvSpPr>
        <p:spPr>
          <a:xfrm>
            <a:off x="45720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TableStatus enum</a:t>
            </a:r>
            <a:endParaRPr lang="en-US" sz="1500" dirty="0"/>
          </a:p>
        </p:txBody>
      </p:sp>
      <p:sp>
        <p:nvSpPr>
          <p:cNvPr id="12" name="enum-chip-1"/>
          <p:cNvSpPr/>
          <p:nvPr/>
        </p:nvSpPr>
        <p:spPr>
          <a:xfrm>
            <a:off x="2331720" y="3968496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enum-chip-text-1"/>
          <p:cNvSpPr txBox="1"/>
          <p:nvPr/>
        </p:nvSpPr>
        <p:spPr>
          <a:xfrm>
            <a:off x="2331720" y="3968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AVAILABLE</a:t>
            </a:r>
            <a:endParaRPr lang="en-US" sz="1400" dirty="0"/>
          </a:p>
        </p:txBody>
      </p:sp>
      <p:sp>
        <p:nvSpPr>
          <p:cNvPr id="14" name="enum-chip-2"/>
          <p:cNvSpPr/>
          <p:nvPr/>
        </p:nvSpPr>
        <p:spPr>
          <a:xfrm>
            <a:off x="4114800" y="3968496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enum-chip-text-2"/>
          <p:cNvSpPr txBox="1"/>
          <p:nvPr/>
        </p:nvSpPr>
        <p:spPr>
          <a:xfrm>
            <a:off x="4114800" y="3968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RESERVED</a:t>
            </a:r>
            <a:endParaRPr lang="en-US" sz="1400" dirty="0"/>
          </a:p>
        </p:txBody>
      </p:sp>
      <p:sp>
        <p:nvSpPr>
          <p:cNvPr id="16" name="enum-chip-3"/>
          <p:cNvSpPr/>
          <p:nvPr/>
        </p:nvSpPr>
        <p:spPr>
          <a:xfrm>
            <a:off x="5897880" y="3968496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enum-chip-text-3"/>
          <p:cNvSpPr txBox="1"/>
          <p:nvPr/>
        </p:nvSpPr>
        <p:spPr>
          <a:xfrm>
            <a:off x="5897880" y="3968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OCCUPIED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algorithms</a:t>
            </a:r>
            <a:endParaRPr lang="en-US" sz="3200" dirty="0"/>
          </a:p>
        </p:txBody>
      </p:sp>
      <p:sp>
        <p:nvSpPr>
          <p:cNvPr id="3" name="step-num-bg-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-num-1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-text-1"/>
          <p:cNvSpPr txBox="1"/>
          <p:nvPr/>
        </p:nvSpPr>
        <p:spPr>
          <a:xfrm>
            <a:off x="1143000" y="11155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Best fit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Smallest table that fits the party</a:t>
            </a:r>
            <a:endParaRPr lang="en-US" sz="1700" dirty="0"/>
          </a:p>
        </p:txBody>
      </p:sp>
      <p:sp>
        <p:nvSpPr>
          <p:cNvPr id="6" name="step-num-bg-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-num-2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step-text-2"/>
          <p:cNvSpPr txBox="1"/>
          <p:nvPr/>
        </p:nvSpPr>
        <p:spPr>
          <a:xfrm>
            <a:off x="1143000" y="19842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double booking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party blocks its table for 90 min</a:t>
            </a:r>
            <a:endParaRPr lang="en-US" sz="1700" dirty="0"/>
          </a:p>
        </p:txBody>
      </p:sp>
      <p:sp>
        <p:nvSpPr>
          <p:cNvPr id="9" name="step-num-bg-3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-num-3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step-text-3"/>
          <p:cNvSpPr txBox="1"/>
          <p:nvPr/>
        </p:nvSpPr>
        <p:spPr>
          <a:xfrm>
            <a:off x="1143000" y="28529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Fair queue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First waiting party that fits gets the table</a:t>
            </a:r>
            <a:endParaRPr lang="en-US" sz="1700" dirty="0"/>
          </a:p>
        </p:txBody>
      </p:sp>
      <p:sp>
        <p:nvSpPr>
          <p:cNvPr id="12" name="step-num-bg-4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-num-4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step-text-4"/>
          <p:cNvSpPr txBox="1"/>
          <p:nvPr/>
        </p:nvSpPr>
        <p:spPr>
          <a:xfrm>
            <a:off x="1143000" y="3721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Notification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Release → thread waits 2 s → hold → alert</a:t>
            </a:r>
            <a:endParaRPr lang="en-US" sz="1700" dirty="0"/>
          </a:p>
        </p:txBody>
      </p:sp>
      <p:pic>
        <p:nvPicPr>
          <p:cNvPr id="15" name="release-flowchart" descr="Flowchart: table released, notifier thread offers th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869" y="1051560"/>
            <a:ext cx="2088931" cy="3429000"/>
          </a:xfrm>
          <a:prstGeom prst="rect">
            <a:avLst/>
          </a:prstGeom>
        </p:spPr>
      </p:pic>
      <p:sp>
        <p:nvSpPr>
          <p:cNvPr id="16" name="release-caption"/>
          <p:cNvSpPr txBox="1"/>
          <p:nvPr/>
        </p:nvSpPr>
        <p:spPr>
          <a:xfrm>
            <a:off x="6414989" y="4498848"/>
            <a:ext cx="2271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Flowchart 2 - table released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 and results</a:t>
            </a:r>
            <a:endParaRPr lang="en-US" sz="3200" dirty="0"/>
          </a:p>
        </p:txBody>
      </p:sp>
      <p:sp>
        <p:nvSpPr>
          <p:cNvPr id="3" name="test-stat"/>
          <p:cNvSpPr txBox="1"/>
          <p:nvPr/>
        </p:nvSpPr>
        <p:spPr>
          <a:xfrm>
            <a:off x="457200" y="1051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16 / 16</a:t>
            </a:r>
            <a:endParaRPr lang="en-US" sz="6000" dirty="0"/>
          </a:p>
        </p:txBody>
      </p:sp>
      <p:sp>
        <p:nvSpPr>
          <p:cNvPr id="4" name="test-stat-label"/>
          <p:cNvSpPr txBox="1"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 cases passed</a:t>
            </a:r>
            <a:endParaRPr lang="en-US" sz="1800" dirty="0"/>
          </a:p>
        </p:txBody>
      </p:sp>
      <p:sp>
        <p:nvSpPr>
          <p:cNvPr id="5" name="check-1-circle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check-1-icon" descr="check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15" y="2580071"/>
            <a:ext cx="161666" cy="161666"/>
          </a:xfrm>
          <a:prstGeom prst="rect">
            <a:avLst/>
          </a:prstGeom>
        </p:spPr>
      </p:pic>
      <p:sp>
        <p:nvSpPr>
          <p:cNvPr id="7" name="check-text-1"/>
          <p:cNvSpPr txBox="1"/>
          <p:nvPr/>
        </p:nvSpPr>
        <p:spPr>
          <a:xfrm>
            <a:off x="91440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module and every validation rule</a:t>
            </a:r>
            <a:endParaRPr lang="en-US" sz="1400" dirty="0"/>
          </a:p>
        </p:txBody>
      </p:sp>
      <p:sp>
        <p:nvSpPr>
          <p:cNvPr id="8" name="check-2-circle"/>
          <p:cNvSpPr/>
          <p:nvPr/>
        </p:nvSpPr>
        <p:spPr>
          <a:xfrm>
            <a:off x="457200" y="303580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check-2-icon" descr="check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5" y="3110423"/>
            <a:ext cx="161666" cy="161666"/>
          </a:xfrm>
          <a:prstGeom prst="rect">
            <a:avLst/>
          </a:prstGeom>
        </p:spPr>
      </p:pic>
      <p:sp>
        <p:nvSpPr>
          <p:cNvPr id="10" name="check-text-2"/>
          <p:cNvSpPr txBox="1"/>
          <p:nvPr/>
        </p:nvSpPr>
        <p:spPr>
          <a:xfrm>
            <a:off x="914400" y="29992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Errors explain the fix: "15-minute slots", "cannot exceed 20"</a:t>
            </a:r>
            <a:endParaRPr lang="en-US" sz="1400" dirty="0"/>
          </a:p>
        </p:txBody>
      </p:sp>
      <p:sp>
        <p:nvSpPr>
          <p:cNvPr id="11" name="check-3-circle"/>
          <p:cNvSpPr/>
          <p:nvPr/>
        </p:nvSpPr>
        <p:spPr>
          <a:xfrm>
            <a:off x="457200" y="356616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check-3-icon" descr="check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5" y="3640775"/>
            <a:ext cx="161666" cy="161666"/>
          </a:xfrm>
          <a:prstGeom prst="rect">
            <a:avLst/>
          </a:prstGeom>
        </p:spPr>
      </p:pic>
      <p:sp>
        <p:nvSpPr>
          <p:cNvPr id="13" name="check-text-3"/>
          <p:cNvSpPr txBox="1"/>
          <p:nvPr/>
        </p:nvSpPr>
        <p:spPr>
          <a:xfrm>
            <a:off x="914400" y="352958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Background notification verified at about 2 s</a:t>
            </a:r>
            <a:endParaRPr lang="en-US" sz="1400" dirty="0"/>
          </a:p>
        </p:txBody>
      </p:sp>
      <p:sp>
        <p:nvSpPr>
          <p:cNvPr id="14" name="check-4-circle"/>
          <p:cNvSpPr/>
          <p:nvPr/>
        </p:nvSpPr>
        <p:spPr>
          <a:xfrm>
            <a:off x="457200" y="409651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check-4-icon" descr="check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" y="4171127"/>
            <a:ext cx="161666" cy="161666"/>
          </a:xfrm>
          <a:prstGeom prst="rect">
            <a:avLst/>
          </a:prstGeom>
        </p:spPr>
      </p:pic>
      <p:sp>
        <p:nvSpPr>
          <p:cNvPr id="16" name="check-text-4"/>
          <p:cNvSpPr txBox="1"/>
          <p:nvPr/>
        </p:nvSpPr>
        <p:spPr>
          <a:xfrm>
            <a:off x="914400" y="40599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data restored after a restart</a:t>
            </a:r>
            <a:endParaRPr lang="en-US" sz="1400" dirty="0"/>
          </a:p>
        </p:txBody>
      </p:sp>
      <p:pic>
        <p:nvPicPr>
          <p:cNvPr id="17" name="validation-screenshot" descr="Party size 21 rejected with an error dialo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234440"/>
            <a:ext cx="4206240" cy="258431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screenshot-caption"/>
          <p:cNvSpPr txBox="1"/>
          <p:nvPr/>
        </p:nvSpPr>
        <p:spPr>
          <a:xfrm>
            <a:off x="4526280" y="389190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Real screenshot: party of 21 typed into the booking form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done-tile-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ne-num-1"/>
          <p:cNvSpPr txBox="1"/>
          <p:nvPr/>
        </p:nvSpPr>
        <p:spPr>
          <a:xfrm>
            <a:off x="685800" y="11430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</a:t>
            </a:r>
            <a:endParaRPr lang="en-US" sz="4400" dirty="0"/>
          </a:p>
        </p:txBody>
      </p:sp>
      <p:sp>
        <p:nvSpPr>
          <p:cNvPr id="5" name="done-word-1"/>
          <p:cNvSpPr txBox="1"/>
          <p:nvPr/>
        </p:nvSpPr>
        <p:spPr>
          <a:xfrm>
            <a:off x="1691640" y="1143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objectives met</a:t>
            </a:r>
            <a:endParaRPr lang="en-US" sz="1500" dirty="0"/>
          </a:p>
        </p:txBody>
      </p:sp>
      <p:sp>
        <p:nvSpPr>
          <p:cNvPr id="6" name="done-tile-2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one-num-2"/>
          <p:cNvSpPr txBox="1"/>
          <p:nvPr/>
        </p:nvSpPr>
        <p:spPr>
          <a:xfrm>
            <a:off x="3474720" y="11430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</a:t>
            </a:r>
            <a:endParaRPr lang="en-US" sz="4400" dirty="0"/>
          </a:p>
        </p:txBody>
      </p:sp>
      <p:sp>
        <p:nvSpPr>
          <p:cNvPr id="8" name="done-word-2"/>
          <p:cNvSpPr txBox="1"/>
          <p:nvPr/>
        </p:nvSpPr>
        <p:spPr>
          <a:xfrm>
            <a:off x="4480560" y="1143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modules built</a:t>
            </a:r>
            <a:endParaRPr lang="en-US" sz="1500" dirty="0"/>
          </a:p>
        </p:txBody>
      </p:sp>
      <p:sp>
        <p:nvSpPr>
          <p:cNvPr id="9" name="done-tile-3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ne-num-3"/>
          <p:cNvSpPr txBox="1"/>
          <p:nvPr/>
        </p:nvSpPr>
        <p:spPr>
          <a:xfrm>
            <a:off x="6263640" y="11430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</a:t>
            </a:r>
            <a:endParaRPr lang="en-US" sz="4400" dirty="0"/>
          </a:p>
        </p:txBody>
      </p:sp>
      <p:sp>
        <p:nvSpPr>
          <p:cNvPr id="11" name="done-word-3"/>
          <p:cNvSpPr txBox="1"/>
          <p:nvPr/>
        </p:nvSpPr>
        <p:spPr>
          <a:xfrm>
            <a:off x="7269480" y="1143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Java concepts used</a:t>
            </a:r>
            <a:endParaRPr lang="en-US" sz="1500" dirty="0"/>
          </a:p>
        </p:txBody>
      </p:sp>
      <p:sp>
        <p:nvSpPr>
          <p:cNvPr id="12" name="done-extra"/>
          <p:cNvSpPr txBox="1"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Plus realistic rules: best fit, a fair queue, held tables and autosave</a:t>
            </a:r>
            <a:endParaRPr lang="en-US" sz="1500" dirty="0"/>
          </a:p>
        </p:txBody>
      </p:sp>
      <p:sp>
        <p:nvSpPr>
          <p:cNvPr id="13" name="next-header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4" name="next-1-circle"/>
          <p:cNvSpPr/>
          <p:nvPr/>
        </p:nvSpPr>
        <p:spPr>
          <a:xfrm>
            <a:off x="457200" y="3364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next-1-icon" descr="next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474720"/>
            <a:ext cx="237744" cy="237744"/>
          </a:xfrm>
          <a:prstGeom prst="rect">
            <a:avLst/>
          </a:prstGeom>
        </p:spPr>
      </p:pic>
      <p:sp>
        <p:nvSpPr>
          <p:cNvPr id="16" name="next-text-1"/>
          <p:cNvSpPr txBox="1"/>
          <p:nvPr/>
        </p:nvSpPr>
        <p:spPr>
          <a:xfrm>
            <a:off x="1024128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Database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Several front desks share one reservation book</a:t>
            </a:r>
            <a:endParaRPr lang="en-US" sz="1500" dirty="0"/>
          </a:p>
        </p:txBody>
      </p:sp>
      <p:sp>
        <p:nvSpPr>
          <p:cNvPr id="17" name="next-2-circle"/>
          <p:cNvSpPr/>
          <p:nvPr/>
        </p:nvSpPr>
        <p:spPr>
          <a:xfrm>
            <a:off x="3246120" y="3364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next-2-icon" descr="next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474720"/>
            <a:ext cx="237744" cy="237744"/>
          </a:xfrm>
          <a:prstGeom prst="rect">
            <a:avLst/>
          </a:prstGeom>
        </p:spPr>
      </p:pic>
      <p:sp>
        <p:nvSpPr>
          <p:cNvPr id="19" name="next-text-2"/>
          <p:cNvSpPr txBox="1"/>
          <p:nvPr/>
        </p:nvSpPr>
        <p:spPr>
          <a:xfrm>
            <a:off x="3813048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SMS paging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Waiting guests are notified automatically</a:t>
            </a:r>
            <a:endParaRPr lang="en-US" sz="1500" dirty="0"/>
          </a:p>
        </p:txBody>
      </p:sp>
      <p:sp>
        <p:nvSpPr>
          <p:cNvPr id="20" name="next-3-circle"/>
          <p:cNvSpPr/>
          <p:nvPr/>
        </p:nvSpPr>
        <p:spPr>
          <a:xfrm>
            <a:off x="6035040" y="33649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next-3-icon" descr="next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474720"/>
            <a:ext cx="237744" cy="237744"/>
          </a:xfrm>
          <a:prstGeom prst="rect">
            <a:avLst/>
          </a:prstGeom>
        </p:spPr>
      </p:pic>
      <p:sp>
        <p:nvSpPr>
          <p:cNvPr id="22" name="next-text-3"/>
          <p:cNvSpPr txBox="1"/>
          <p:nvPr/>
        </p:nvSpPr>
        <p:spPr>
          <a:xfrm>
            <a:off x="6601968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Join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Seat very large groups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548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Questions?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Aditya Sunil Chouksey  |  150096725070</a:t>
            </a:r>
            <a:endParaRPr lang="en-US" sz="1600" dirty="0"/>
          </a:p>
        </p:txBody>
      </p:sp>
      <p:sp>
        <p:nvSpPr>
          <p:cNvPr id="4" name="closing-dot-1"/>
          <p:cNvSpPr/>
          <p:nvPr/>
        </p:nvSpPr>
        <p:spPr>
          <a:xfrm>
            <a:off x="6949440" y="3977640"/>
            <a:ext cx="438912" cy="43891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closing-dot-2"/>
          <p:cNvSpPr/>
          <p:nvPr/>
        </p:nvSpPr>
        <p:spPr>
          <a:xfrm>
            <a:off x="7516368" y="3977640"/>
            <a:ext cx="438912" cy="43891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closing-dot-3"/>
          <p:cNvSpPr/>
          <p:nvPr/>
        </p:nvSpPr>
        <p:spPr>
          <a:xfrm>
            <a:off x="8083296" y="3977640"/>
            <a:ext cx="438912" cy="438912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7" name="closing-icon" descr="utensils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TM Restaurant">
  <a:themeElements>
    <a:clrScheme name="ITM Restaurant">
      <a:dk1>
        <a:srgbClr val="1F1F24"/>
      </a:dk1>
      <a:lt1>
        <a:srgbClr val="FFFFFF"/>
      </a:lt1>
      <a:dk2>
        <a:srgbClr val="5C1232"/>
      </a:dk2>
      <a:lt2>
        <a:srgbClr val="F6F0F3"/>
      </a:lt2>
      <a:accent1>
        <a:srgbClr val="8E1F4A"/>
      </a:accent1>
      <a:accent2>
        <a:srgbClr val="D99A1E"/>
      </a:accent2>
      <a:accent3>
        <a:srgbClr val="2E8B57"/>
      </a:accent3>
      <a:accent4>
        <a:srgbClr val="C0392B"/>
      </a:accent4>
      <a:accent5>
        <a:srgbClr val="3F6EA8"/>
      </a:accent5>
      <a:accent6>
        <a:srgbClr val="6B7280"/>
      </a:accent6>
      <a:hlink>
        <a:srgbClr val="3F6EA8"/>
      </a:hlink>
      <a:folHlink>
        <a:srgbClr val="6B7280"/>
      </a:folHlink>
    </a:clrScheme>
    <a:fontScheme name="ITM Restaura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Table Reservation &amp; Waitlist System - Presentation</dc:title>
  <dc:subject>Java Programming - Case Study 70</dc:subject>
  <dc:creator>Aditya Sunil Chouksey</dc:creator>
  <cp:lastModifiedBy>Aditya Sunil Chouksey</cp:lastModifiedBy>
  <cp:revision>1</cp:revision>
  <dcterms:created xsi:type="dcterms:W3CDTF">2026-10-04T19:26:21Z</dcterms:created>
  <dcterms:modified xsi:type="dcterms:W3CDTF">2026-10-04T19:26:21Z</dcterms:modified>
</cp:coreProperties>
</file>